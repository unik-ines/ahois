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media/image9.wmf" ContentType="image/x-wmf"/>
  <Override PartName="/ppt/media/image13.wmf" ContentType="image/x-wmf"/>
  <Override PartName="/ppt/media/image8.wmf" ContentType="image/x-wmf"/>
  <Override PartName="/ppt/media/image12.wmf" ContentType="image/x-wmf"/>
  <Override PartName="/ppt/media/image7.wmf" ContentType="image/x-wmf"/>
  <Override PartName="/ppt/media/image11.wmf" ContentType="image/x-wmf"/>
  <Override PartName="/ppt/media/image6.wmf" ContentType="image/x-wmf"/>
  <Override PartName="/ppt/media/image5.wmf" ContentType="image/x-wmf"/>
  <Override PartName="/ppt/media/image10.png" ContentType="image/png"/>
  <Override PartName="/ppt/media/image4.wmf" ContentType="image/x-wmf"/>
  <Override PartName="/ppt/media/image3.wmf" ContentType="image/x-wmf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wmf" ContentType="image/x-wmf"/>
  <Override PartName="/ppt/media/image15.wmf" ContentType="image/x-wmf"/>
  <Override PartName="/ppt/media/image14.wmf" ContentType="image/x-wmf"/>
  <Override PartName="/ppt/media/image1.wmf" ContentType="image/x-wmf"/>
  <Override PartName="/ppt/media/image2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de-DE" sz="4400" spc="-1" strike="noStrike">
                <a:latin typeface="Arial"/>
              </a:rPr>
              <a:t>Click to move the slide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de-DE" sz="2000" spc="-1" strike="noStrike">
                <a:latin typeface="Arial"/>
              </a:rPr>
              <a:t>Click to edit the notes format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de-DE" sz="1400" spc="-1" strike="noStrike">
                <a:latin typeface="Times New Roman"/>
              </a:rPr>
              <a:t>&lt;header&gt;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de-DE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de-DE" sz="1400" spc="-1" strike="noStrike">
                <a:latin typeface="Times New Roman"/>
              </a:rPr>
              <a:t>&lt;date/time&gt;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de-DE" sz="1400" spc="-1" strike="noStrike">
                <a:latin typeface="Times New Roman"/>
              </a:defRPr>
            </a:lvl1pPr>
          </a:lstStyle>
          <a:p>
            <a:r>
              <a:rPr b="0" lang="de-DE" sz="1400" spc="-1" strike="noStrike">
                <a:latin typeface="Times New Roman"/>
              </a:rPr>
              <a:t>&lt;footer&gt;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de-DE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677974E-AD7B-4DBE-B05F-9818B1BB0AF5}" type="slidenum">
              <a:rPr b="0" lang="de-DE" sz="1400" spc="-1" strike="noStrike">
                <a:latin typeface="Times New Roman"/>
              </a:rPr>
              <a:t>&lt;number&gt;</a:t>
            </a:fld>
            <a:endParaRPr b="0" lang="de-DE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2150D1A-31BE-44DC-9AAE-6E9FFBFAB473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A12DD5-FB4E-4931-8243-27000C48E599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0AA1AE-19F7-46CF-903E-90D2B8D6675D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672744-F901-45B7-A700-37E0431386EC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B57D7D-0060-42D0-B25C-904D72356528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3322E2-1717-4E9B-A667-FC35F78D2BA0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9CA904-6ABD-43E2-AE1E-2AB35BADA581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1455840" y="1143000"/>
            <a:ext cx="3945600" cy="22183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Sammlung von Hemmnissen mit Stakeholdern (wir haben was vorbereitet --&gt; kann man Sachen auswählen, dass man nicht komplett mitschreiben muss – sehr anstrengend zu schreiben und zuzuhören?)</a:t>
            </a:r>
            <a:endParaRPr b="0" lang="de-DE" sz="20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000" spc="-1" strike="noStrike">
                <a:latin typeface="Calibri"/>
              </a:rPr>
              <a:t>Was ist der Unterschied zu Erfolgsfaktoren?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EB08F1-3410-467A-9504-D971BC621327}" type="slidenum">
              <a:rPr b="0" lang="en-US" sz="1200" spc="-1" strike="noStrike">
                <a:latin typeface="Times New Roman"/>
              </a:rPr>
              <a:t>&lt;number&gt;</a:t>
            </a:fld>
            <a:endParaRPr b="0" lang="de-DE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FA197D-450D-451B-A3C5-112AB0CFBA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80F42B-1B9B-47C4-9C15-1403589F8D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9B9F64-11B1-43C0-9F8D-A46B87C68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E6DF36-715B-4A3C-981B-94ABF5A1C1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0FB1A2-D391-4287-8B78-3E3FDC4489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64BB52-2FCB-4AB9-8BB6-ADEC0EF36B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802A42-A7DF-46E6-BB8F-4B921B6B8F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38431A-EE3C-4BE3-AEDB-9E512BE03E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13BCDF-8262-4CE4-B796-F9BAB1320E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77848B-B8AF-401B-BCFB-D9A83E143C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37B2CB-A1DB-42F6-B2C5-5AA9745A5D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B516C9-FC77-4C64-9BF1-AC8758D70D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979DEB-E1F3-480D-80BB-1A28C4C372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1BCF3F-63F5-44A1-80C8-4453E97C82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AF76B32-3457-4D38-B149-FA630B1E8E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D313BF-F97B-4003-90D4-FFE0F54E93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EC8C7E-7814-4B08-9626-B28140CD9B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D3F6DA-5EC5-4503-AD49-95BDED2B89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CB587F-A36B-4D55-B6A7-AD8210A54D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FAC3C2-9E84-488F-B1A9-C67E4CB6DF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3870D27-1FCD-456D-8DA2-EEAAE3208F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B9C613-81FA-437F-9615-EFE28B3AA3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78A3C4-2C18-4D54-B4CC-832B9BF523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e-DE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e-DE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BA3A35-C535-4176-A499-CA968B9EFD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3.w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12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7.wmf"/><Relationship Id="rId15" Type="http://schemas.openxmlformats.org/officeDocument/2006/relationships/oleObject" Target="../embeddings/oleObject7.bin"/><Relationship Id="rId16" Type="http://schemas.openxmlformats.org/officeDocument/2006/relationships/image" Target="../media/image8.wmf"/><Relationship Id="rId17" Type="http://schemas.openxmlformats.org/officeDocument/2006/relationships/slideLayout" Target="../slideLayouts/slideLayout1.xml"/><Relationship Id="rId18" Type="http://schemas.openxmlformats.org/officeDocument/2006/relationships/slideLayout" Target="../slideLayouts/slideLayout2.xml"/><Relationship Id="rId19" Type="http://schemas.openxmlformats.org/officeDocument/2006/relationships/slideLayout" Target="../slideLayouts/slideLayout3.xml"/><Relationship Id="rId20" Type="http://schemas.openxmlformats.org/officeDocument/2006/relationships/slideLayout" Target="../slideLayouts/slideLayout4.xml"/><Relationship Id="rId21" Type="http://schemas.openxmlformats.org/officeDocument/2006/relationships/slideLayout" Target="../slideLayouts/slideLayout5.xml"/><Relationship Id="rId22" Type="http://schemas.openxmlformats.org/officeDocument/2006/relationships/slideLayout" Target="../slideLayouts/slideLayout6.xml"/><Relationship Id="rId23" Type="http://schemas.openxmlformats.org/officeDocument/2006/relationships/slideLayout" Target="../slideLayouts/slideLayout7.xml"/><Relationship Id="rId24" Type="http://schemas.openxmlformats.org/officeDocument/2006/relationships/slideLayout" Target="../slideLayouts/slideLayout8.xml"/><Relationship Id="rId25" Type="http://schemas.openxmlformats.org/officeDocument/2006/relationships/slideLayout" Target="../slideLayouts/slideLayout9.xml"/><Relationship Id="rId26" Type="http://schemas.openxmlformats.org/officeDocument/2006/relationships/slideLayout" Target="../slideLayouts/slideLayout10.xml"/><Relationship Id="rId27" Type="http://schemas.openxmlformats.org/officeDocument/2006/relationships/slideLayout" Target="../slideLayouts/slideLayout11.xml"/><Relationship Id="rId2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9.wmf"/><Relationship Id="rId4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11.wmf"/><Relationship Id="rId7" Type="http://schemas.openxmlformats.org/officeDocument/2006/relationships/oleObject" Target="../embeddings/oleObject3.bin"/><Relationship Id="rId8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0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12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14" Type="http://schemas.openxmlformats.org/officeDocument/2006/relationships/image" Target="../media/image15.wmf"/><Relationship Id="rId15" Type="http://schemas.openxmlformats.org/officeDocument/2006/relationships/oleObject" Target="../embeddings/oleObject7.bin"/><Relationship Id="rId16" Type="http://schemas.openxmlformats.org/officeDocument/2006/relationships/image" Target="../media/image16.wmf"/><Relationship Id="rId17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Objekt 7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" name="Objekt 7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" name="Gerader Verbinder 33"/>
          <p:cNvSpPr/>
          <p:nvPr/>
        </p:nvSpPr>
        <p:spPr>
          <a:xfrm>
            <a:off x="479160" y="1245240"/>
            <a:ext cx="360000" cy="360"/>
          </a:xfrm>
          <a:prstGeom prst="line">
            <a:avLst/>
          </a:prstGeom>
          <a:ln w="50760">
            <a:solidFill>
              <a:srgbClr val="179c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Gerader Verbinder 41"/>
          <p:cNvSpPr/>
          <p:nvPr/>
        </p:nvSpPr>
        <p:spPr>
          <a:xfrm>
            <a:off x="0" y="6145920"/>
            <a:ext cx="12191760" cy="360"/>
          </a:xfrm>
          <a:prstGeom prst="line">
            <a:avLst/>
          </a:prstGeom>
          <a:ln w="19080">
            <a:solidFill>
              <a:srgbClr val="a6bbc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Textfeld 6"/>
          <p:cNvSpPr/>
          <p:nvPr/>
        </p:nvSpPr>
        <p:spPr>
          <a:xfrm>
            <a:off x="479520" y="6455880"/>
            <a:ext cx="230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Seite</a:t>
            </a:r>
            <a:endParaRPr b="0" lang="de-DE" sz="800" spc="-1" strike="noStrike">
              <a:latin typeface="Arial"/>
            </a:endParaRPr>
          </a:p>
        </p:txBody>
      </p:sp>
      <p:pic>
        <p:nvPicPr>
          <p:cNvPr id="5" name="iee_rgb" descr=""/>
          <p:cNvPicPr/>
          <p:nvPr/>
        </p:nvPicPr>
        <p:blipFill>
          <a:blip r:embed="rId4"/>
          <a:stretch/>
        </p:blipFill>
        <p:spPr>
          <a:xfrm>
            <a:off x="10309320" y="6334200"/>
            <a:ext cx="1402200" cy="3700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" name="Objekt 9"/>
          <p:cNvGraphicFramePr/>
          <p:nvPr/>
        </p:nvGraphicFramePr>
        <p:xfrm>
          <a:off x="8354880" y="6334200"/>
          <a:ext cx="1717560" cy="36288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7" name="Objek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8354880" y="6334200"/>
                    <a:ext cx="1717560" cy="362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" name="Objekt 11"/>
          <p:cNvGraphicFramePr/>
          <p:nvPr/>
        </p:nvGraphicFramePr>
        <p:xfrm>
          <a:off x="6973920" y="6212520"/>
          <a:ext cx="1144440" cy="56340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9" name="Objekt 11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6973920" y="6212520"/>
                    <a:ext cx="1144440" cy="5634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0" name="Objekt 12"/>
          <p:cNvGraphicFramePr/>
          <p:nvPr/>
        </p:nvGraphicFramePr>
        <p:xfrm>
          <a:off x="5513760" y="6351840"/>
          <a:ext cx="1226160" cy="344880"/>
        </p:xfrm>
        <a:graphic>
          <a:graphicData uri="http://schemas.openxmlformats.org/presentationml/2006/ole">
            <p:oleObj r:id="rId9" spid="">
              <p:embed/>
              <p:pic>
                <p:nvPicPr>
                  <p:cNvPr id="11" name="Objekt 12" descr=""/>
                  <p:cNvPicPr/>
                  <p:nvPr/>
                </p:nvPicPr>
                <p:blipFill>
                  <a:blip r:embed="rId10"/>
                  <a:stretch/>
                </p:blipFill>
                <p:spPr>
                  <a:xfrm>
                    <a:off x="5513760" y="6351840"/>
                    <a:ext cx="1226160" cy="3448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2" name="Objekt 13"/>
          <p:cNvGraphicFramePr/>
          <p:nvPr/>
        </p:nvGraphicFramePr>
        <p:xfrm>
          <a:off x="4010760" y="6255720"/>
          <a:ext cx="1266480" cy="468360"/>
        </p:xfrm>
        <a:graphic>
          <a:graphicData uri="http://schemas.openxmlformats.org/presentationml/2006/ole">
            <p:oleObj r:id="rId11" spid="">
              <p:embed/>
              <p:pic>
                <p:nvPicPr>
                  <p:cNvPr id="13" name="Objekt 13" descr=""/>
                  <p:cNvPicPr/>
                  <p:nvPr/>
                </p:nvPicPr>
                <p:blipFill>
                  <a:blip r:embed="rId12"/>
                  <a:stretch/>
                </p:blipFill>
                <p:spPr>
                  <a:xfrm>
                    <a:off x="4010760" y="6255720"/>
                    <a:ext cx="1266480" cy="468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" name="Objekt 14"/>
          <p:cNvGraphicFramePr/>
          <p:nvPr/>
        </p:nvGraphicFramePr>
        <p:xfrm>
          <a:off x="2693160" y="6237000"/>
          <a:ext cx="1081080" cy="557640"/>
        </p:xfrm>
        <a:graphic>
          <a:graphicData uri="http://schemas.openxmlformats.org/presentationml/2006/ole">
            <p:oleObj r:id="rId13" spid="">
              <p:embed/>
              <p:pic>
                <p:nvPicPr>
                  <p:cNvPr id="15" name="Objekt 14" descr=""/>
                  <p:cNvPicPr/>
                  <p:nvPr/>
                </p:nvPicPr>
                <p:blipFill>
                  <a:blip r:embed="rId14"/>
                  <a:stretch/>
                </p:blipFill>
                <p:spPr>
                  <a:xfrm>
                    <a:off x="2693160" y="6237000"/>
                    <a:ext cx="1081080" cy="5576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6" name="Objekt 10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r:id="rId15" spid="">
              <p:embed/>
              <p:pic>
                <p:nvPicPr>
                  <p:cNvPr id="17" name="Objekt 10" descr=""/>
                  <p:cNvPicPr/>
                  <p:nvPr/>
                </p:nvPicPr>
                <p:blipFill>
                  <a:blip r:embed="rId16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" name="PlaceHolder 1"/>
          <p:cNvSpPr>
            <a:spLocks noGrp="1"/>
          </p:cNvSpPr>
          <p:nvPr>
            <p:ph type="ftr" idx="1"/>
          </p:nvPr>
        </p:nvSpPr>
        <p:spPr>
          <a:xfrm>
            <a:off x="2297880" y="6455880"/>
            <a:ext cx="2950200" cy="12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de-DE" sz="1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&lt;footer&gt;</a:t>
            </a:r>
            <a:endParaRPr b="0" lang="de-DE" sz="1800" spc="-1" strike="noStrike"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2"/>
          </p:nvPr>
        </p:nvSpPr>
        <p:spPr>
          <a:xfrm>
            <a:off x="711720" y="6455880"/>
            <a:ext cx="407160" cy="12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24434742-43A9-490C-B9D3-BB57A816C5BF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3"/>
          </p:nvPr>
        </p:nvSpPr>
        <p:spPr>
          <a:xfrm>
            <a:off x="1310040" y="6455880"/>
            <a:ext cx="862200" cy="12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de-DE" sz="1400" spc="-1" strike="noStrike">
                <a:latin typeface="Times New Roman"/>
              </a:defRPr>
            </a:lvl1pPr>
          </a:lstStyle>
          <a:p>
            <a:r>
              <a:rPr b="0" lang="de-DE" sz="1400" spc="-1" strike="noStrike">
                <a:latin typeface="Times New Roman"/>
              </a:rPr>
              <a:t>&lt;date/time&gt;</a:t>
            </a:r>
            <a:endParaRPr b="0" lang="de-DE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7"/>
    <p:sldLayoutId id="2147483650" r:id="rId18"/>
    <p:sldLayoutId id="2147483651" r:id="rId19"/>
    <p:sldLayoutId id="2147483652" r:id="rId20"/>
    <p:sldLayoutId id="2147483653" r:id="rId21"/>
    <p:sldLayoutId id="2147483654" r:id="rId22"/>
    <p:sldLayoutId id="2147483655" r:id="rId23"/>
    <p:sldLayoutId id="2147483656" r:id="rId24"/>
    <p:sldLayoutId id="2147483657" r:id="rId25"/>
    <p:sldLayoutId id="2147483658" r:id="rId26"/>
    <p:sldLayoutId id="2147483659" r:id="rId27"/>
    <p:sldLayoutId id="2147483660" r:id="rId2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Objekt 7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58" name="Objekt 7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9" name="Gerader Verbinder 33"/>
          <p:cNvSpPr/>
          <p:nvPr/>
        </p:nvSpPr>
        <p:spPr>
          <a:xfrm>
            <a:off x="479160" y="1245240"/>
            <a:ext cx="360000" cy="360"/>
          </a:xfrm>
          <a:prstGeom prst="line">
            <a:avLst/>
          </a:prstGeom>
          <a:ln w="50760">
            <a:solidFill>
              <a:srgbClr val="179c7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Gerader Verbinder 41"/>
          <p:cNvSpPr/>
          <p:nvPr/>
        </p:nvSpPr>
        <p:spPr>
          <a:xfrm>
            <a:off x="0" y="6145920"/>
            <a:ext cx="12191760" cy="360"/>
          </a:xfrm>
          <a:prstGeom prst="line">
            <a:avLst/>
          </a:prstGeom>
          <a:ln w="19080">
            <a:solidFill>
              <a:srgbClr val="a6bbc8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feld 6"/>
          <p:cNvSpPr/>
          <p:nvPr/>
        </p:nvSpPr>
        <p:spPr>
          <a:xfrm>
            <a:off x="479520" y="6455880"/>
            <a:ext cx="2314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Seite</a:t>
            </a:r>
            <a:endParaRPr b="0" lang="de-DE" sz="800" spc="-1" strike="noStrike">
              <a:latin typeface="Arial"/>
            </a:endParaRPr>
          </a:p>
        </p:txBody>
      </p:sp>
      <p:pic>
        <p:nvPicPr>
          <p:cNvPr id="62" name="iee_rgb" descr=""/>
          <p:cNvPicPr/>
          <p:nvPr/>
        </p:nvPicPr>
        <p:blipFill>
          <a:blip r:embed="rId4"/>
          <a:stretch/>
        </p:blipFill>
        <p:spPr>
          <a:xfrm>
            <a:off x="10309320" y="6334200"/>
            <a:ext cx="1402920" cy="3708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3" name="Objekt 9"/>
          <p:cNvGraphicFramePr/>
          <p:nvPr/>
        </p:nvGraphicFramePr>
        <p:xfrm>
          <a:off x="8354880" y="6334200"/>
          <a:ext cx="1718280" cy="36360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64" name="Objekt 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8354880" y="6334200"/>
                    <a:ext cx="1718280" cy="363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5" name="Objekt 11"/>
          <p:cNvGraphicFramePr/>
          <p:nvPr/>
        </p:nvGraphicFramePr>
        <p:xfrm>
          <a:off x="6973920" y="6212520"/>
          <a:ext cx="1145160" cy="564120"/>
        </p:xfrm>
        <a:graphic>
          <a:graphicData uri="http://schemas.openxmlformats.org/presentationml/2006/ole">
            <p:oleObj r:id="rId7" spid="">
              <p:embed/>
              <p:pic>
                <p:nvPicPr>
                  <p:cNvPr id="66" name="Objekt 11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6973920" y="6212520"/>
                    <a:ext cx="1145160" cy="5641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7" name="Objekt 12"/>
          <p:cNvGraphicFramePr/>
          <p:nvPr/>
        </p:nvGraphicFramePr>
        <p:xfrm>
          <a:off x="5513760" y="6351840"/>
          <a:ext cx="1226880" cy="345600"/>
        </p:xfrm>
        <a:graphic>
          <a:graphicData uri="http://schemas.openxmlformats.org/presentationml/2006/ole">
            <p:oleObj r:id="rId9" spid="">
              <p:embed/>
              <p:pic>
                <p:nvPicPr>
                  <p:cNvPr id="68" name="Objekt 12" descr=""/>
                  <p:cNvPicPr/>
                  <p:nvPr/>
                </p:nvPicPr>
                <p:blipFill>
                  <a:blip r:embed="rId10"/>
                  <a:stretch/>
                </p:blipFill>
                <p:spPr>
                  <a:xfrm>
                    <a:off x="5513760" y="6351840"/>
                    <a:ext cx="1226880" cy="345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69" name="Objekt 13"/>
          <p:cNvGraphicFramePr/>
          <p:nvPr/>
        </p:nvGraphicFramePr>
        <p:xfrm>
          <a:off x="4010760" y="6255720"/>
          <a:ext cx="1267200" cy="469080"/>
        </p:xfrm>
        <a:graphic>
          <a:graphicData uri="http://schemas.openxmlformats.org/presentationml/2006/ole">
            <p:oleObj r:id="rId11" spid="">
              <p:embed/>
              <p:pic>
                <p:nvPicPr>
                  <p:cNvPr id="70" name="Objekt 13" descr=""/>
                  <p:cNvPicPr/>
                  <p:nvPr/>
                </p:nvPicPr>
                <p:blipFill>
                  <a:blip r:embed="rId12"/>
                  <a:stretch/>
                </p:blipFill>
                <p:spPr>
                  <a:xfrm>
                    <a:off x="4010760" y="6255720"/>
                    <a:ext cx="1267200" cy="469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1" name="Objekt 14"/>
          <p:cNvGraphicFramePr/>
          <p:nvPr/>
        </p:nvGraphicFramePr>
        <p:xfrm>
          <a:off x="2693160" y="6237000"/>
          <a:ext cx="1081800" cy="558360"/>
        </p:xfrm>
        <a:graphic>
          <a:graphicData uri="http://schemas.openxmlformats.org/presentationml/2006/ole">
            <p:oleObj r:id="rId13" spid="">
              <p:embed/>
              <p:pic>
                <p:nvPicPr>
                  <p:cNvPr id="72" name="Objekt 14" descr=""/>
                  <p:cNvPicPr/>
                  <p:nvPr/>
                </p:nvPicPr>
                <p:blipFill>
                  <a:blip r:embed="rId14"/>
                  <a:stretch/>
                </p:blipFill>
                <p:spPr>
                  <a:xfrm>
                    <a:off x="2693160" y="6237000"/>
                    <a:ext cx="1081800" cy="558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3" name="Objekt 10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r:id="rId15" spid="">
              <p:embed/>
              <p:pic>
                <p:nvPicPr>
                  <p:cNvPr id="74" name="Objekt 10" descr=""/>
                  <p:cNvPicPr/>
                  <p:nvPr/>
                </p:nvPicPr>
                <p:blipFill>
                  <a:blip r:embed="rId16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5" name="PlaceHolder 1"/>
          <p:cNvSpPr>
            <a:spLocks noGrp="1"/>
          </p:cNvSpPr>
          <p:nvPr>
            <p:ph type="ftr" idx="4"/>
          </p:nvPr>
        </p:nvSpPr>
        <p:spPr>
          <a:xfrm>
            <a:off x="2297880" y="6455880"/>
            <a:ext cx="2950920" cy="12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defRPr b="0" lang="de-DE" sz="1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&lt;footer&gt;</a:t>
            </a:r>
            <a:endParaRPr b="0" lang="de-DE" sz="1800" spc="-1" strike="noStrike"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5"/>
          </p:nvPr>
        </p:nvSpPr>
        <p:spPr>
          <a:xfrm>
            <a:off x="711720" y="6455880"/>
            <a:ext cx="40788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8AC91D25-2FEB-40EB-B8DB-BFD9B674ACF3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6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defRPr b="0" lang="de-DE" sz="1400" spc="-1" strike="noStrike">
                <a:latin typeface="Times New Roman"/>
              </a:defRPr>
            </a:lvl1pPr>
          </a:lstStyle>
          <a:p>
            <a:r>
              <a:rPr b="0" lang="de-DE" sz="1400" spc="-1" strike="noStrike">
                <a:latin typeface="Times New Roman"/>
              </a:rPr>
              <a:t>&lt;date/time&gt;</a:t>
            </a:r>
            <a:endParaRPr b="0" lang="de-DE" sz="1400" spc="-1" strike="noStrike"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de-DE" sz="4400" spc="-1" strike="noStrike">
                <a:latin typeface="Arial"/>
              </a:rPr>
              <a:t>Click to edit the title text format</a:t>
            </a:r>
            <a:endParaRPr b="0" lang="de-DE" sz="44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latin typeface="Arial"/>
              </a:rPr>
              <a:t>Click to edit the outline text format</a:t>
            </a:r>
            <a:endParaRPr b="0" lang="de-DE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latin typeface="Arial"/>
              </a:rPr>
              <a:t>Second Outline Level</a:t>
            </a:r>
            <a:endParaRPr b="0" lang="de-DE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latin typeface="Arial"/>
              </a:rPr>
              <a:t>Third Outline Level</a:t>
            </a:r>
            <a:endParaRPr b="0" lang="de-DE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latin typeface="Arial"/>
              </a:rPr>
              <a:t>Fourth Outline Level</a:t>
            </a:r>
            <a:endParaRPr b="0" lang="de-DE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Fifth Outline Level</a:t>
            </a:r>
            <a:endParaRPr b="0" lang="de-DE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Sixth Outline Level</a:t>
            </a:r>
            <a:endParaRPr b="0" lang="de-DE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latin typeface="Arial"/>
              </a:rPr>
              <a:t>Seventh Outline Level</a:t>
            </a:r>
            <a:endParaRPr b="0" lang="de-DE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1280" cy="38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Titel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79520" y="778320"/>
            <a:ext cx="11231280" cy="31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spcAft>
                <a:spcPts val="1899"/>
              </a:spcAft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5b7f"/>
                </a:solidFill>
                <a:latin typeface="Frutiger LT Com 45 Light"/>
              </a:rPr>
              <a:t>Subtitle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10"/>
          </p:nvPr>
        </p:nvSpPr>
        <p:spPr>
          <a:xfrm>
            <a:off x="1310040" y="6455880"/>
            <a:ext cx="862200" cy="12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3D3BC9A9-A43E-4124-950D-BAFCB776E816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490376-DBAE-478C-8487-0EB356A16D80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RED-IK: Geringere Installationskosten</a:t>
            </a:r>
            <a:endParaRPr b="0" lang="de-DE" sz="240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</a:pPr>
            <a:endParaRPr b="0" lang="de-DE" sz="2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802920" cy="388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Reduktion der Installationskosten um 30%</a:t>
            </a:r>
            <a:endParaRPr b="0" lang="de-DE" sz="1800" spc="-1" strike="noStrike">
              <a:latin typeface="Arial"/>
            </a:endParaRPr>
          </a:p>
          <a:p>
            <a:pPr lvl="3" marL="46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600" spc="-1" strike="noStrike">
                <a:solidFill>
                  <a:srgbClr val="000000"/>
                </a:solidFill>
                <a:latin typeface="Frutiger LT Com 45 Light"/>
              </a:rPr>
              <a:t>Kommunale Förderung</a:t>
            </a:r>
            <a:endParaRPr b="0" lang="de-DE" sz="1600" spc="-1" strike="noStrike">
              <a:latin typeface="Arial"/>
            </a:endParaRPr>
          </a:p>
          <a:p>
            <a:pPr lvl="3" marL="46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400" spc="-1" strike="noStrike">
                <a:solidFill>
                  <a:srgbClr val="000000"/>
                </a:solidFill>
                <a:latin typeface="Frutiger LT Com 45 Light"/>
              </a:rPr>
              <a:t>Senkung der Kosten durch seriellen Einbau</a:t>
            </a:r>
            <a:endParaRPr b="0" lang="de-DE" sz="14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Zielt auf alle Gebäudeeigentümer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b="0" lang="de-DE" sz="18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11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964B44C1-24D3-431C-96CC-89B146EA280A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sldNum" idx="12"/>
          </p:nvPr>
        </p:nvSpPr>
        <p:spPr>
          <a:xfrm>
            <a:off x="8610480" y="575748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0E990335-96F0-4E7E-A42A-D5A65A5D53C7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29" name="Textplatzhalter 2"/>
          <p:cNvSpPr/>
          <p:nvPr/>
        </p:nvSpPr>
        <p:spPr>
          <a:xfrm>
            <a:off x="496800" y="1852200"/>
            <a:ext cx="5983920" cy="16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Installationskosten beeinträchtigen Risikowahrnehmung durch Kreditaufnahme.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Gebäudebesitzer haben hohe Präferenz für niedrige Installationskosten.</a:t>
            </a:r>
            <a:endParaRPr b="0" lang="de-DE" sz="1800" spc="-1" strike="noStrike">
              <a:latin typeface="Arial"/>
            </a:endParaRPr>
          </a:p>
          <a:p>
            <a:pPr>
              <a:lnSpc>
                <a:spcPct val="110000"/>
              </a:lnSpc>
              <a:spcAft>
                <a:spcPts val="601"/>
              </a:spcAft>
              <a:buNone/>
            </a:pPr>
            <a:endParaRPr b="0" lang="de-DE" sz="1800" spc="-1" strike="noStrike"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495000" y="13298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6896160" y="372168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133" name="Picture 2" descr=""/>
          <p:cNvPicPr/>
          <p:nvPr/>
        </p:nvPicPr>
        <p:blipFill>
          <a:blip r:embed="rId1"/>
          <a:stretch/>
        </p:blipFill>
        <p:spPr>
          <a:xfrm>
            <a:off x="7014600" y="4244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134" name="Arrow: Down 7"/>
          <p:cNvSpPr/>
          <p:nvPr/>
        </p:nvSpPr>
        <p:spPr>
          <a:xfrm rot="10800000">
            <a:off x="9195840" y="491292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Arrow: Down 8"/>
          <p:cNvSpPr/>
          <p:nvPr/>
        </p:nvSpPr>
        <p:spPr>
          <a:xfrm>
            <a:off x="9789120" y="491184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5b7f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Arrow: Down 9"/>
          <p:cNvSpPr/>
          <p:nvPr/>
        </p:nvSpPr>
        <p:spPr>
          <a:xfrm>
            <a:off x="8675640" y="491184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Arrow: Down 10"/>
          <p:cNvSpPr/>
          <p:nvPr/>
        </p:nvSpPr>
        <p:spPr>
          <a:xfrm rot="10800000">
            <a:off x="10771560" y="490104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Arrow: Down 11"/>
          <p:cNvSpPr/>
          <p:nvPr/>
        </p:nvSpPr>
        <p:spPr>
          <a:xfrm rot="10800000">
            <a:off x="8143560" y="491292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Arrow: Down 12"/>
          <p:cNvSpPr/>
          <p:nvPr/>
        </p:nvSpPr>
        <p:spPr>
          <a:xfrm rot="10800000">
            <a:off x="7154640" y="4903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Arrow: Down 15"/>
          <p:cNvSpPr/>
          <p:nvPr/>
        </p:nvSpPr>
        <p:spPr>
          <a:xfrm rot="10800000">
            <a:off x="11382120" y="491292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Arrow: Down 16"/>
          <p:cNvSpPr/>
          <p:nvPr/>
        </p:nvSpPr>
        <p:spPr>
          <a:xfrm rot="10800000">
            <a:off x="7662960" y="4903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Minus Sign 2"/>
          <p:cNvSpPr/>
          <p:nvPr/>
        </p:nvSpPr>
        <p:spPr>
          <a:xfrm>
            <a:off x="10178280" y="4907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K-RISK: Informationskampagne Risikowahrnehmung  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388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Aufklärungskampagne zur Zuverlässigkeit von Wärmepumpen</a:t>
            </a:r>
            <a:endParaRPr b="0" lang="de-DE" sz="1800" spc="-1" strike="noStrike">
              <a:latin typeface="Arial"/>
            </a:endParaRPr>
          </a:p>
          <a:p>
            <a:pPr lvl="3" marL="46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400" spc="-1" strike="noStrike">
                <a:solidFill>
                  <a:srgbClr val="000000"/>
                </a:solidFill>
                <a:latin typeface="Frutiger LT Com 45 Light"/>
              </a:rPr>
              <a:t>Zeitlich begrenzt</a:t>
            </a:r>
            <a:endParaRPr b="0" lang="de-DE" sz="1400" spc="-1" strike="noStrike">
              <a:latin typeface="Arial"/>
            </a:endParaRPr>
          </a:p>
          <a:p>
            <a:pPr lvl="3" marL="46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400" spc="-1" strike="noStrike">
                <a:solidFill>
                  <a:srgbClr val="000000"/>
                </a:solidFill>
                <a:latin typeface="Frutiger LT Com 45 Light"/>
              </a:rPr>
              <a:t>30 Agenten pro Woche werden erreicht</a:t>
            </a:r>
            <a:endParaRPr b="0" lang="de-DE" sz="14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Zielt auf alle Gebäudeeigentümer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13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12143019-48D8-479F-854C-BA000314BABB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14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26FE6A7B-8A7E-4379-8AFC-AB81856C5897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47" name="Textplatzhalter 1"/>
          <p:cNvSpPr/>
          <p:nvPr/>
        </p:nvSpPr>
        <p:spPr>
          <a:xfrm>
            <a:off x="478080" y="1967400"/>
            <a:ext cx="598392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Vorbehalte gegen Wärmepumpen aufgrund unkonventioneller Technologie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Unsicherheit durch anfangs geringe Verbreitung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48" name="TextBox 1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151" name="Picture 1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152" name="Arrow: Down 1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Arrow: Down 2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Arrow: Down 3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Minus Sign 1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Minus Sign 8"/>
          <p:cNvSpPr/>
          <p:nvPr/>
        </p:nvSpPr>
        <p:spPr>
          <a:xfrm>
            <a:off x="8075160" y="491508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Minus Sign 9"/>
          <p:cNvSpPr/>
          <p:nvPr/>
        </p:nvSpPr>
        <p:spPr>
          <a:xfrm>
            <a:off x="8610120" y="491508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Minus Sign 10"/>
          <p:cNvSpPr/>
          <p:nvPr/>
        </p:nvSpPr>
        <p:spPr>
          <a:xfrm>
            <a:off x="971532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Minus Sign 11"/>
          <p:cNvSpPr/>
          <p:nvPr/>
        </p:nvSpPr>
        <p:spPr>
          <a:xfrm>
            <a:off x="1071324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Minus Sign 12"/>
          <p:cNvSpPr/>
          <p:nvPr/>
        </p:nvSpPr>
        <p:spPr>
          <a:xfrm>
            <a:off x="1116684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EB: Anreize für Energieberatungen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Finanzierte oder subventionierte Beratungsgespräche für eine persönliche Beratung zu Heizsystemen und Subventionen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Mehr Energieberater [10]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15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56AA5222-8AF6-445E-9065-C9895C30EA6A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sldNum" idx="16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12892A76-CAE8-4C70-B7C7-328717E04466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65" name="Textplatzhalter 3"/>
          <p:cNvSpPr/>
          <p:nvPr/>
        </p:nvSpPr>
        <p:spPr>
          <a:xfrm>
            <a:off x="478080" y="1967400"/>
            <a:ext cx="5983920" cy="12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Energieberatung bewirkt detaillierte Information zu geeigneten Heizsystemen.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Subventionierte und beworbene Energieberatung führt zu häufiger Inanspruchnahme.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68" name="TextBox 9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169" name="Picture 5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170" name="Arrow: Down 17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Arrow: Down 18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Arrow: Down 19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Minus Sign 4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Arrow: Down 25"/>
          <p:cNvSpPr/>
          <p:nvPr/>
        </p:nvSpPr>
        <p:spPr>
          <a:xfrm rot="13363200">
            <a:off x="8633880" y="491832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Minus Sign 5"/>
          <p:cNvSpPr/>
          <p:nvPr/>
        </p:nvSpPr>
        <p:spPr>
          <a:xfrm>
            <a:off x="1071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Minus Sign 6"/>
          <p:cNvSpPr/>
          <p:nvPr/>
        </p:nvSpPr>
        <p:spPr>
          <a:xfrm>
            <a:off x="1133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72720" bIns="7272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77" name="Minus Sign 7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Minus Sign 14"/>
          <p:cNvSpPr/>
          <p:nvPr/>
        </p:nvSpPr>
        <p:spPr>
          <a:xfrm>
            <a:off x="809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RED-EK: Förderung erneuerbarer Energieträger 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Kostenvorteile für erneuerbare Energiequellen gegenüber fossilen Brennstoffen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[Kostenreduktion um 25% für erneuerbare]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17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8DFE41CC-5C6D-48F5-A97E-AFC335C3DD43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sldNum" idx="18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C4360B2F-A057-4AD8-871A-38401015631F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183" name="Textplatzhalter 6"/>
          <p:cNvSpPr/>
          <p:nvPr/>
        </p:nvSpPr>
        <p:spPr>
          <a:xfrm>
            <a:off x="478080" y="1967400"/>
            <a:ext cx="598392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Vor allem in den kommenden Jahren haben fossile Energieträger oft noch einen Kostenvorteil gegenüber Strom.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Eine Umkehr dieses Vorteils verhindert Fehlinvestitionen.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84" name="TextBox 16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85" name="TextBox 17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187" name="Picture 4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188" name="Arrow: Down 23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Arrow: Down 24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Arrow: Down 28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Minus Sign 13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Minus Sign 16"/>
          <p:cNvSpPr/>
          <p:nvPr/>
        </p:nvSpPr>
        <p:spPr>
          <a:xfrm>
            <a:off x="1071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Minus Sign 20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Minus Sign 21"/>
          <p:cNvSpPr/>
          <p:nvPr/>
        </p:nvSpPr>
        <p:spPr>
          <a:xfrm>
            <a:off x="809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Minus Sign 22"/>
          <p:cNvSpPr/>
          <p:nvPr/>
        </p:nvSpPr>
        <p:spPr>
          <a:xfrm>
            <a:off x="859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Arrow: Down 29"/>
          <p:cNvSpPr/>
          <p:nvPr/>
        </p:nvSpPr>
        <p:spPr>
          <a:xfrm rot="10800000">
            <a:off x="11355840" y="492948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REG-AUS: Restriktionen für Heizsysteme 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Hauseigentümer verpflichten, veraltete oder ineffiziente Heizungsanlagen nach Ablauf einer bestimmten Frist zu ersetzen.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[Ersetzung bei 5% der Gebäude mit den höchsten Emissionen zu Jahresbeginn]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dt" idx="19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D81F1AF7-C7D8-4D24-B0A3-B3138EBD2F68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sldNum" idx="20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85287A9C-9D51-4401-9611-A063B7592B91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01" name="Textplatzhalter 5"/>
          <p:cNvSpPr/>
          <p:nvPr/>
        </p:nvSpPr>
        <p:spPr>
          <a:xfrm>
            <a:off x="478080" y="1967400"/>
            <a:ext cx="598392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Gerade alte, ineffiziente Gas- und Ölkessel habe eine hohe Lebenserwartung, sodass der Austausch Regulierung erfordert.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03" name="TextBox 14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205" name="Picture 7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206" name="Arrow: Down 26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Arrow: Down 27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Arrow: Down 33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Minus Sign 15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Minus Sign 17"/>
          <p:cNvSpPr/>
          <p:nvPr/>
        </p:nvSpPr>
        <p:spPr>
          <a:xfrm>
            <a:off x="1071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Minus Sign 18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Minus Sign 19"/>
          <p:cNvSpPr/>
          <p:nvPr/>
        </p:nvSpPr>
        <p:spPr>
          <a:xfrm>
            <a:off x="809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Arrow: Down 34"/>
          <p:cNvSpPr/>
          <p:nvPr/>
        </p:nvSpPr>
        <p:spPr>
          <a:xfrm flipV="1" rot="10800000">
            <a:off x="8691840" y="493020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Minus Sign 24"/>
          <p:cNvSpPr/>
          <p:nvPr/>
        </p:nvSpPr>
        <p:spPr>
          <a:xfrm>
            <a:off x="1125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ZWANG: Anschlussverpflichtung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Im Nahwärmenetzgebiet werden Hauseigentümer verpflichtet, sich bei Austausch des Heizsystems an das Nahwärmenetz anzuschließen.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[Einschränkung der Heizsystemwahl im Netzgebiet, einige Ausnahmen]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21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04FF913E-7ED1-41D1-8AAE-8C034865ECA6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sldNum" idx="22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ACD116D7-6760-4E13-A5C9-247C8A00EABE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19" name="Textplatzhalter 8"/>
          <p:cNvSpPr/>
          <p:nvPr/>
        </p:nvSpPr>
        <p:spPr>
          <a:xfrm>
            <a:off x="478080" y="1967400"/>
            <a:ext cx="598392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Effizienter und kostengünstiger Betrieb des Netzes durch hohe Anschlussquote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Kommunen wie Hannover und Frankfurt greifen bereits auf diese Möglichkeit zurück.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20" name="TextBox 19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21" name="TextBox 21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22" name="TextBox 23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223" name="Picture 6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224" name="Arrow: Down 30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Arrow: Down 31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Arrow: Down 32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Minus Sign 23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Minus Sign 25"/>
          <p:cNvSpPr/>
          <p:nvPr/>
        </p:nvSpPr>
        <p:spPr>
          <a:xfrm>
            <a:off x="1071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Minus Sign 29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Minus Sign 30"/>
          <p:cNvSpPr/>
          <p:nvPr/>
        </p:nvSpPr>
        <p:spPr>
          <a:xfrm>
            <a:off x="809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Arrow: Down 37"/>
          <p:cNvSpPr/>
          <p:nvPr/>
        </p:nvSpPr>
        <p:spPr>
          <a:xfrm rot="13363200">
            <a:off x="11328120" y="496440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Arrow: Down 38"/>
          <p:cNvSpPr/>
          <p:nvPr/>
        </p:nvSpPr>
        <p:spPr>
          <a:xfrm flipV="1" rot="10800000">
            <a:off x="8691840" y="49287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RED-AUF: Reduktion Installationsaufwand  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Kostenvorteile für erneuerbare Energiequellen gegenüber fossilen Brennstoffen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[Kostenreduktion um 25% für erneuerbare]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dt" idx="23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3E63FD85-D246-48A7-951B-4FA55A6946CB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sldNum" idx="24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76126CE6-5B05-4E5D-ACF5-0552D2A03CBD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37" name="Textplatzhalter 7"/>
          <p:cNvSpPr/>
          <p:nvPr/>
        </p:nvSpPr>
        <p:spPr>
          <a:xfrm>
            <a:off x="478080" y="1967400"/>
            <a:ext cx="598392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Vor allem in den kommenden Jahren haben fossile Energieträger oft noch einen Kostenvorteil gegenüber Strom.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Eine Umkehr dieses Vorteils verhindert Fehlinvestitionen.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38" name="TextBox 20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40" name="TextBox 25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241" name="Picture 9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242" name="Arrow: Down 35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Arrow: Down 36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Arrow: Down 42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Minus Sign 26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Minus Sign 27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Arrow: Down 43"/>
          <p:cNvSpPr/>
          <p:nvPr/>
        </p:nvSpPr>
        <p:spPr>
          <a:xfrm rot="10800000">
            <a:off x="8130960" y="492048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Arrow: Down 44"/>
          <p:cNvSpPr/>
          <p:nvPr/>
        </p:nvSpPr>
        <p:spPr>
          <a:xfrm flipV="1" rot="8236800">
            <a:off x="8613360" y="4895640"/>
            <a:ext cx="25560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Arrow: Down 47"/>
          <p:cNvSpPr/>
          <p:nvPr/>
        </p:nvSpPr>
        <p:spPr>
          <a:xfrm rot="13363200">
            <a:off x="11349000" y="49413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Arrow: Down 48"/>
          <p:cNvSpPr/>
          <p:nvPr/>
        </p:nvSpPr>
        <p:spPr>
          <a:xfrm rot="10800000">
            <a:off x="10779840" y="492948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79520" y="395640"/>
            <a:ext cx="112320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</a:pPr>
            <a:r>
              <a:rPr b="0" lang="de-DE" sz="2400" spc="-1" strike="noStrike">
                <a:solidFill>
                  <a:srgbClr val="005b7f"/>
                </a:solidFill>
                <a:latin typeface="Frutiger LT Com 65 Bold"/>
              </a:rPr>
              <a:t>Maßnahme WKONT: Wärmelieferkontrakte </a:t>
            </a:r>
            <a:endParaRPr b="0" lang="de-DE" sz="2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78080" y="4237200"/>
            <a:ext cx="6075720" cy="171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Hauseigentümer tragen keine Installationskosten, dafür jedoch höhere Betriebskosten.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</a:rPr>
              <a:t>[Umlegen der Installationskosten auf Betriebskosten über Anlagenlebensdauer]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dt" idx="25"/>
          </p:nvPr>
        </p:nvSpPr>
        <p:spPr>
          <a:xfrm>
            <a:off x="1310040" y="6455880"/>
            <a:ext cx="862920" cy="12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D748EB42-B9E1-4E9D-9192-A7A490CDDAAD}" type="datetime1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26.03.2025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sldNum" idx="26"/>
          </p:nvPr>
        </p:nvSpPr>
        <p:spPr>
          <a:xfrm>
            <a:off x="8610480" y="578484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>
              <a:lnSpc>
                <a:spcPct val="100000"/>
              </a:lnSpc>
              <a:buNone/>
              <a:defRPr b="0" lang="de-DE" sz="800" spc="-1" strike="noStrike">
                <a:solidFill>
                  <a:srgbClr val="000000"/>
                </a:solidFill>
                <a:latin typeface="Frutiger LT Com 45 Light"/>
              </a:defRPr>
            </a:lvl1pPr>
          </a:lstStyle>
          <a:p>
            <a:pPr>
              <a:lnSpc>
                <a:spcPct val="100000"/>
              </a:lnSpc>
              <a:buNone/>
            </a:pPr>
            <a:fld id="{024FBD78-24DD-4742-9B78-E169E62D5E41}" type="slidenum">
              <a:rPr b="0" lang="de-DE" sz="800" spc="-1" strike="noStrike">
                <a:solidFill>
                  <a:srgbClr val="000000"/>
                </a:solidFill>
                <a:latin typeface="Frutiger LT Com 45 Light"/>
              </a:rPr>
              <a:t>&lt;number&gt;</a:t>
            </a:fld>
            <a:endParaRPr b="0" lang="de-DE" sz="800" spc="-1" strike="noStrike">
              <a:latin typeface="Times New Roman"/>
            </a:endParaRPr>
          </a:p>
        </p:txBody>
      </p:sp>
      <p:sp>
        <p:nvSpPr>
          <p:cNvPr id="255" name="Textplatzhalter 10"/>
          <p:cNvSpPr/>
          <p:nvPr/>
        </p:nvSpPr>
        <p:spPr>
          <a:xfrm>
            <a:off x="478080" y="1967400"/>
            <a:ext cx="598392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Für manche Hauseigentümer stellen hohe Installationskosten eine Hürde da, die durch Contracting umgangen werden kann.</a:t>
            </a:r>
            <a:endParaRPr b="0" lang="de-DE" sz="1800" spc="-1" strike="noStrike">
              <a:latin typeface="Arial"/>
            </a:endParaRPr>
          </a:p>
          <a:p>
            <a:pPr marL="285840" indent="-285840">
              <a:lnSpc>
                <a:spcPct val="110000"/>
              </a:lnSpc>
              <a:spcAft>
                <a:spcPts val="601"/>
              </a:spcAft>
              <a:buClr>
                <a:srgbClr val="179c7d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Keine Aufnahme von Krediten nötig</a:t>
            </a:r>
            <a:endParaRPr b="0" lang="de-DE" sz="1800" spc="-1" strike="noStrike">
              <a:latin typeface="Arial"/>
            </a:endParaRPr>
          </a:p>
        </p:txBody>
      </p:sp>
      <p:sp>
        <p:nvSpPr>
          <p:cNvPr id="256" name="TextBox 24"/>
          <p:cNvSpPr/>
          <p:nvPr/>
        </p:nvSpPr>
        <p:spPr>
          <a:xfrm>
            <a:off x="476280" y="144504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Motivation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57" name="TextBox 28"/>
          <p:cNvSpPr/>
          <p:nvPr/>
        </p:nvSpPr>
        <p:spPr>
          <a:xfrm>
            <a:off x="6896160" y="37393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Wirkung</a:t>
            </a:r>
            <a:endParaRPr b="0" lang="de-DE" sz="2000" spc="-1" strike="noStrike">
              <a:latin typeface="Arial"/>
            </a:endParaRPr>
          </a:p>
        </p:txBody>
      </p:sp>
      <p:sp>
        <p:nvSpPr>
          <p:cNvPr id="258" name="TextBox 29"/>
          <p:cNvSpPr/>
          <p:nvPr/>
        </p:nvSpPr>
        <p:spPr>
          <a:xfrm>
            <a:off x="476280" y="3705120"/>
            <a:ext cx="274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0000"/>
                </a:solidFill>
                <a:latin typeface="Frutiger LT Com 45 Light"/>
                <a:ea typeface="DejaVu Sans"/>
              </a:rPr>
              <a:t>Beschreibung</a:t>
            </a:r>
            <a:endParaRPr b="0" lang="de-DE" sz="2000" spc="-1" strike="noStrike">
              <a:latin typeface="Arial"/>
            </a:endParaRPr>
          </a:p>
        </p:txBody>
      </p:sp>
      <p:pic>
        <p:nvPicPr>
          <p:cNvPr id="259" name="Picture 8" descr=""/>
          <p:cNvPicPr/>
          <p:nvPr/>
        </p:nvPicPr>
        <p:blipFill>
          <a:blip r:embed="rId1"/>
          <a:stretch/>
        </p:blipFill>
        <p:spPr>
          <a:xfrm>
            <a:off x="7014600" y="4262760"/>
            <a:ext cx="4617720" cy="406080"/>
          </a:xfrm>
          <a:prstGeom prst="rect">
            <a:avLst/>
          </a:prstGeom>
          <a:ln w="0">
            <a:noFill/>
          </a:ln>
        </p:spPr>
      </p:pic>
      <p:sp>
        <p:nvSpPr>
          <p:cNvPr id="260" name="Arrow: Down 39"/>
          <p:cNvSpPr/>
          <p:nvPr/>
        </p:nvSpPr>
        <p:spPr>
          <a:xfrm rot="10800000">
            <a:off x="9195840" y="4930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Arrow: Down 40"/>
          <p:cNvSpPr/>
          <p:nvPr/>
        </p:nvSpPr>
        <p:spPr>
          <a:xfrm rot="10800000">
            <a:off x="715464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Arrow: Down 41"/>
          <p:cNvSpPr/>
          <p:nvPr/>
        </p:nvSpPr>
        <p:spPr>
          <a:xfrm rot="10800000">
            <a:off x="7662960" y="492156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Minus Sign 28"/>
          <p:cNvSpPr/>
          <p:nvPr/>
        </p:nvSpPr>
        <p:spPr>
          <a:xfrm>
            <a:off x="1017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Arrow: Down 45"/>
          <p:cNvSpPr/>
          <p:nvPr/>
        </p:nvSpPr>
        <p:spPr>
          <a:xfrm flipV="1" rot="8236800">
            <a:off x="8634240" y="4918680"/>
            <a:ext cx="25560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Minus Sign 31"/>
          <p:cNvSpPr/>
          <p:nvPr/>
        </p:nvSpPr>
        <p:spPr>
          <a:xfrm>
            <a:off x="10718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Minus Sign 32"/>
          <p:cNvSpPr/>
          <p:nvPr/>
        </p:nvSpPr>
        <p:spPr>
          <a:xfrm>
            <a:off x="9674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Minus Sign 33"/>
          <p:cNvSpPr/>
          <p:nvPr/>
        </p:nvSpPr>
        <p:spPr>
          <a:xfrm>
            <a:off x="8090280" y="4925520"/>
            <a:ext cx="389160" cy="307440"/>
          </a:xfrm>
          <a:prstGeom prst="mathMinus">
            <a:avLst>
              <a:gd name="adj1" fmla="val 23520"/>
            </a:avLst>
          </a:prstGeom>
          <a:solidFill>
            <a:srgbClr val="000000"/>
          </a:solidFill>
          <a:ln w="12600">
            <a:solidFill>
              <a:srgbClr val="0a4436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Arrow: Down 46"/>
          <p:cNvSpPr/>
          <p:nvPr/>
        </p:nvSpPr>
        <p:spPr>
          <a:xfrm rot="10800000">
            <a:off x="11319840" y="4929480"/>
            <a:ext cx="255960" cy="30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PP_260423_Fraunhofer_Master_16-9</Template>
  <TotalTime>507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2024-03-11T11:34:41Z</dcterms:created>
  <dc:creator>Schurig, Marlen</dc:creator>
  <dc:description/>
  <dc:language>de-DE</dc:language>
  <cp:lastModifiedBy/>
  <dcterms:modified xsi:type="dcterms:W3CDTF">2025-03-26T08:53:53Z</dcterms:modified>
  <cp:revision>11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0x010100E624D4BD603C494D8619E511287172B4</vt:lpwstr>
  </property>
  <property fmtid="{D5CDD505-2E9C-101B-9397-08002B2CF9AE}" pid="3" name="HiddenSlides">
    <vt:r8>15</vt:r8>
  </property>
  <property fmtid="{D5CDD505-2E9C-101B-9397-08002B2CF9AE}" pid="4" name="MediaServiceImageTags">
    <vt:lpwstr/>
  </property>
  <property fmtid="{D5CDD505-2E9C-101B-9397-08002B2CF9AE}" pid="5" name="Notes">
    <vt:r8>17</vt:r8>
  </property>
  <property fmtid="{D5CDD505-2E9C-101B-9397-08002B2CF9AE}" pid="6" name="PresentationFormat">
    <vt:lpwstr>Breitbild</vt:lpwstr>
  </property>
  <property fmtid="{D5CDD505-2E9C-101B-9397-08002B2CF9AE}" pid="7" name="Slides">
    <vt:r8>84</vt:r8>
  </property>
</Properties>
</file>